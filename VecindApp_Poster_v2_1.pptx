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945600" cy="32918400"/>
  <p:notesSz cx="32918400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0" cy="457200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70832"/>
            <a:ext cx="21945600" cy="201168"/>
          </a:xfrm>
          <a:prstGeom prst="rect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21945600" cy="164592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60120"/>
            <a:ext cx="20116800" cy="0"/>
          </a:xfrm>
          <a:prstGeom prst="line">
            <a:avLst/>
          </a:prstGeom>
          <a:noFill/>
          <a:ln w="6350">
            <a:solidFill>
              <a:srgbClr val="C18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99232"/>
            <a:ext cx="20116800" cy="0"/>
          </a:xfrm>
          <a:prstGeom prst="line">
            <a:avLst/>
          </a:prstGeom>
          <a:noFill/>
          <a:ln w="6350">
            <a:solidFill>
              <a:srgbClr val="C185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4320"/>
            <a:ext cx="109728" cy="594360"/>
          </a:xfrm>
          <a:prstGeom prst="rect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743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CAD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UNIVERSIDAD SAN SEBASTIÁN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6217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A9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 y Sociedad  ·  Ingeniería Civil Informática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378672" y="274320"/>
            <a:ext cx="109728" cy="594360"/>
          </a:xfrm>
          <a:prstGeom prst="rect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09392" y="2743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50" kern="0" dirty="0">
                <a:solidFill>
                  <a:srgbClr val="CAD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PÓSTER CIENTÍFICO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709392" y="6217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9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Grupo 12  ·  Junio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024128"/>
            <a:ext cx="2103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VecindApp: Plataforma Digital de Intercambio Solidario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Fortalecimiento del Capital Social Comunitario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2103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CF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Moisés Vásquez   ·   Valentina Hernández   ·   Benjamín Maldonado   ·   Francisco Nomán   ·   Sebastián Valbuena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639312"/>
            <a:ext cx="2103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Ingeniería Civil Informática  |  Universidad San Sebastián  |  Departamento de Formación Integral  | 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27976" y="5074920"/>
            <a:ext cx="25648920" cy="0"/>
          </a:xfrm>
          <a:prstGeom prst="line">
            <a:avLst/>
          </a:prstGeom>
          <a:noFill/>
          <a:ln w="8890">
            <a:solidFill>
              <a:srgbClr val="D4CF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517624" y="5074920"/>
            <a:ext cx="25648920" cy="0"/>
          </a:xfrm>
          <a:prstGeom prst="line">
            <a:avLst/>
          </a:prstGeom>
          <a:noFill/>
          <a:ln w="8890">
            <a:solidFill>
              <a:srgbClr val="D4CF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5166360"/>
            <a:ext cx="256032" cy="256032"/>
          </a:xfrm>
          <a:prstGeom prst="ellipse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074920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5513832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605272"/>
            <a:ext cx="6851904" cy="4754880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5605272"/>
            <a:ext cx="6851904" cy="4754880"/>
          </a:xfrm>
          <a:prstGeom prst="rect">
            <a:avLst/>
          </a:prstGeom>
          <a:noFill/>
          <a:ln/>
        </p:spPr>
        <p:txBody>
          <a:bodyPr wrap="square" lIns="2794" tIns="2540" rIns="2540" bIns="1905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presente trabajo expone el desarrollo de VecindApp, una plataforma digital diseñada para facilitar el intercambio solidario de favores, servicios y artículos en desuso entre vecinos, prescindiendo de toda intermediación monetaria.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iniciativa parte de la premisa aristotélica que concibe al ser humano como un ser social y político por naturaleza. Ante la creciente fragmentación del tejido urbano, la plataforma ofrece un espacio de publicación de ofertas y solicitudes de ayuda, con mensajería directa entre vecinos.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implementó un Producto Mínimo Viable (MVP) en una comunidad piloto. Los resultados evidencian la factibilidad técnica y social del modelo, validando que la tecnología puede ser catalizador del bien común cuando se diseña desde la ética del cuidado.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" y="10725912"/>
            <a:ext cx="256032" cy="256032"/>
          </a:xfrm>
          <a:prstGeom prst="ellipse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10634472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11073384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11164824"/>
            <a:ext cx="6851904" cy="3200400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11164824"/>
            <a:ext cx="6851904" cy="3200400"/>
          </a:xfrm>
          <a:prstGeom prst="rect">
            <a:avLst/>
          </a:prstGeom>
          <a:noFill/>
          <a:ln/>
        </p:spPr>
        <p:txBody>
          <a:bodyPr wrap="square" lIns="2540" tIns="2540" rIns="2540" bIns="1905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debilitamiento de los lazos comunitarios en entornos urbanos constituye un fenómeno ampliamente documentado. La creciente individualización y la mediación mercantil erosionan la Philia cívica —amistad civil— que Aristóteles consideraba condición esencial de la vida en polis.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VecindApp surge como respuesta: una herramienta que habilita el intercambio voluntario de bienes y servicios sin dinero ni créditos, priorizando el bienestar colectivo sobre la eficiencia individual, y materializando el concepto de amor Ágape en el entorno digital.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" y="14730984"/>
            <a:ext cx="256032" cy="256032"/>
          </a:xfrm>
          <a:prstGeom prst="ellipse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14639544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 TEÓRICOS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" y="15078456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15169896"/>
            <a:ext cx="6851904" cy="2176272"/>
          </a:xfrm>
          <a:prstGeom prst="rect">
            <a:avLst/>
          </a:prstGeom>
          <a:solidFill>
            <a:srgbClr val="EAF3FB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15169896"/>
            <a:ext cx="82296" cy="2176272"/>
          </a:xfrm>
          <a:prstGeom prst="rect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15352776"/>
            <a:ext cx="530352" cy="530352"/>
          </a:xfrm>
          <a:prstGeom prst="ellipse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153527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φ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15334488"/>
            <a:ext cx="588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5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Philia Cívica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280160" y="15681960"/>
            <a:ext cx="588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Aristóteles — Ética a Nicómaco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" y="15992856"/>
            <a:ext cx="65501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amistad cívica no es un lujo sino condición esencial de la vida en comunidad. La plataforma busca reconstruir lazos de confianza y benevolencia, superando la soledad ontológica del entorno urbano contemporáneo.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17492472"/>
            <a:ext cx="6851904" cy="2176272"/>
          </a:xfrm>
          <a:prstGeom prst="rect">
            <a:avLst/>
          </a:prstGeom>
          <a:solidFill>
            <a:srgbClr val="FAF0F0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17492472"/>
            <a:ext cx="82296" cy="2176272"/>
          </a:xfrm>
          <a:prstGeom prst="rect">
            <a:avLst/>
          </a:prstGeom>
          <a:solidFill>
            <a:srgbClr val="7D2D2D"/>
          </a:solidFill>
          <a:ln w="12700">
            <a:solidFill>
              <a:srgbClr val="7D2D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17675352"/>
            <a:ext cx="530352" cy="530352"/>
          </a:xfrm>
          <a:prstGeom prst="ellipse">
            <a:avLst/>
          </a:prstGeom>
          <a:solidFill>
            <a:srgbClr val="7D2D2D"/>
          </a:solidFill>
          <a:ln w="12700">
            <a:solidFill>
              <a:srgbClr val="7D2D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17675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♡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280160" y="17657064"/>
            <a:ext cx="588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Amor Ágape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280160" y="18004536"/>
            <a:ext cx="588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Ética del Cuidado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1792" y="18315432"/>
            <a:ext cx="65501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Compromiso incondicional con el bienestar del prójimo. La prohibición de dinero obliga a los usuarios a relacionarse desde su dimensión más humana, resistiendo la instrumentalización de las relaciones sociales.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19815048"/>
            <a:ext cx="6851904" cy="2176272"/>
          </a:xfrm>
          <a:prstGeom prst="rect">
            <a:avLst/>
          </a:prstGeom>
          <a:solidFill>
            <a:srgbClr val="E5F4F5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19815048"/>
            <a:ext cx="82296" cy="2176272"/>
          </a:xfrm>
          <a:prstGeom prst="rect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19997928"/>
            <a:ext cx="530352" cy="530352"/>
          </a:xfrm>
          <a:prstGeom prst="ellipse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199979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ζ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280160" y="19979640"/>
            <a:ext cx="588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Animal Social y Político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280160" y="20327112"/>
            <a:ext cx="588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Antropología Política Aristotélica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1792" y="20638008"/>
            <a:ext cx="65501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ser humano se realiza a través del vínculo comunitario. La plataforma parte de la interdependencia como condición natural, demostrando que el orden social emerge desde la colaboración voluntaria.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5488" y="22357080"/>
            <a:ext cx="256032" cy="256032"/>
          </a:xfrm>
          <a:prstGeom prst="ellipse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22265640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METODOLOGÍA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22960" y="22704552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22795992"/>
            <a:ext cx="6851904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7200" y="22795992"/>
            <a:ext cx="6851904" cy="749808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Investigación-acción participativa  ·  5 fases secuenciales: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457200" y="23637240"/>
            <a:ext cx="6851904" cy="1298448"/>
          </a:xfrm>
          <a:prstGeom prst="rect">
            <a:avLst/>
          </a:prstGeom>
          <a:solidFill>
            <a:srgbClr val="EAF3FB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57200" y="23637240"/>
            <a:ext cx="82296" cy="1298448"/>
          </a:xfrm>
          <a:prstGeom prst="rect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1792" y="24030432"/>
            <a:ext cx="512064" cy="512064"/>
          </a:xfrm>
          <a:prstGeom prst="ellipse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" y="2403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261872" y="23728680"/>
            <a:ext cx="591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5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y Vinculación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1261872" y="24185880"/>
            <a:ext cx="5910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Entrevistas con directiva vecinal · Informe de necesidades (10–13 may.)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57200" y="25027128"/>
            <a:ext cx="6851904" cy="1298448"/>
          </a:xfrm>
          <a:prstGeom prst="rect">
            <a:avLst/>
          </a:prstGeom>
          <a:solidFill>
            <a:srgbClr val="E9F4EE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57200" y="25027128"/>
            <a:ext cx="82296" cy="1298448"/>
          </a:xfrm>
          <a:prstGeom prst="rect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" y="25420320"/>
            <a:ext cx="512064" cy="512064"/>
          </a:xfrm>
          <a:prstGeom prst="ellipse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1792" y="2542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261872" y="25118568"/>
            <a:ext cx="591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de Requerimientos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1261872" y="25575768"/>
            <a:ext cx="5910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Especificación funcional · Wireframes de la interfaz (14–19 may.)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57200" y="26417016"/>
            <a:ext cx="6851904" cy="1298448"/>
          </a:xfrm>
          <a:prstGeom prst="rect">
            <a:avLst/>
          </a:prstGeom>
          <a:solidFill>
            <a:srgbClr val="FBF3E8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57200" y="26417016"/>
            <a:ext cx="82296" cy="1298448"/>
          </a:xfrm>
          <a:prstGeom prst="rect">
            <a:avLst/>
          </a:prstGeom>
          <a:solidFill>
            <a:srgbClr val="A85E14"/>
          </a:solidFill>
          <a:ln w="12700">
            <a:solidFill>
              <a:srgbClr val="A85E1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1792" y="26810208"/>
            <a:ext cx="512064" cy="512064"/>
          </a:xfrm>
          <a:prstGeom prst="ellipse">
            <a:avLst/>
          </a:prstGeom>
          <a:solidFill>
            <a:srgbClr val="A85E14"/>
          </a:solidFill>
          <a:ln w="12700">
            <a:solidFill>
              <a:srgbClr val="A85E1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" y="2681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261872" y="26508456"/>
            <a:ext cx="591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85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del MVP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1261872" y="26965656"/>
            <a:ext cx="5910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Registro · Publicaciones · Mensajería directa · GitHub (20–24 may.)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457200" y="27806904"/>
            <a:ext cx="6851904" cy="1298448"/>
          </a:xfrm>
          <a:prstGeom prst="rect">
            <a:avLst/>
          </a:prstGeom>
          <a:solidFill>
            <a:srgbClr val="E5F4F5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57200" y="27806904"/>
            <a:ext cx="82296" cy="1298448"/>
          </a:xfrm>
          <a:prstGeom prst="rect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1792" y="28200096"/>
            <a:ext cx="512064" cy="512064"/>
          </a:xfrm>
          <a:prstGeom prst="ellipse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1792" y="28200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261872" y="27898344"/>
            <a:ext cx="591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Lanzamiento e Inducción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1261872" y="28355544"/>
            <a:ext cx="5910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presencial · Fotografías · Lista de asistencia (25–28 may.)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457200" y="29196792"/>
            <a:ext cx="6851904" cy="1298448"/>
          </a:xfrm>
          <a:prstGeom prst="rect">
            <a:avLst/>
          </a:prstGeom>
          <a:solidFill>
            <a:srgbClr val="FAF0F0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57200" y="29196792"/>
            <a:ext cx="82296" cy="1298448"/>
          </a:xfrm>
          <a:prstGeom prst="rect">
            <a:avLst/>
          </a:prstGeom>
          <a:solidFill>
            <a:srgbClr val="7D2D2D"/>
          </a:solidFill>
          <a:ln w="12700">
            <a:solidFill>
              <a:srgbClr val="7D2D2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1792" y="29589984"/>
            <a:ext cx="512064" cy="512064"/>
          </a:xfrm>
          <a:prstGeom prst="ellipse">
            <a:avLst/>
          </a:prstGeom>
          <a:solidFill>
            <a:srgbClr val="7D2D2D"/>
          </a:solidFill>
          <a:ln w="12700">
            <a:solidFill>
              <a:srgbClr val="7D2D2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1792" y="29589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1261872" y="29288232"/>
            <a:ext cx="591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Monitoreo y Evaluación</a:t>
            </a:r>
            <a:endParaRPr lang="en-US" sz="1250" dirty="0"/>
          </a:p>
        </p:txBody>
      </p:sp>
      <p:sp>
        <p:nvSpPr>
          <p:cNvPr id="86" name="Text 84"/>
          <p:cNvSpPr/>
          <p:nvPr/>
        </p:nvSpPr>
        <p:spPr>
          <a:xfrm>
            <a:off x="1261872" y="29745432"/>
            <a:ext cx="5910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Seguimiento de intercambios · Testimonios audiovisuales (29 may–10 jun.)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7565136" y="5166360"/>
            <a:ext cx="256032" cy="256032"/>
          </a:xfrm>
          <a:prstGeom prst="ellipse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912608" y="5074920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SOCIAL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7912608" y="5513832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46848" y="5605272"/>
            <a:ext cx="6851904" cy="2176272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7546848" y="5605272"/>
            <a:ext cx="6851904" cy="2176272"/>
          </a:xfrm>
          <a:prstGeom prst="rect">
            <a:avLst/>
          </a:prstGeom>
          <a:noFill/>
          <a:ln/>
        </p:spPr>
        <p:txBody>
          <a:bodyPr wrap="square" lIns="2540" tIns="2540" rIns="2540" bIns="1905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progresiva densificación de los entornos urbanos ha generado una paradoja: vivir rodeados de miles de personas sin conocer a ninguna. La sociología documenta el deterioro del capital social comunitario —red de confianza, reciprocidad y participación— como una de las principales amenazas al bienestar colectivo en las ciudades del siglo XXI.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7546848" y="7946136"/>
            <a:ext cx="3343656" cy="2286000"/>
          </a:xfrm>
          <a:prstGeom prst="rect">
            <a:avLst/>
          </a:prstGeom>
          <a:solidFill>
            <a:srgbClr val="EAF3FB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7546848" y="7946136"/>
            <a:ext cx="3343656" cy="64008"/>
          </a:xfrm>
          <a:prstGeom prst="rect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546848" y="8037576"/>
            <a:ext cx="3343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5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Fragmentación Social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7546848" y="8458200"/>
            <a:ext cx="3343656" cy="1389888"/>
          </a:xfrm>
          <a:prstGeom prst="rect">
            <a:avLst/>
          </a:prstGeom>
          <a:noFill/>
          <a:ln/>
        </p:spPr>
        <p:txBody>
          <a:bodyPr wrap="square" lIns="0" tIns="1905" rIns="1905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i="1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relaciones contemporáneas tienden a la liquidez: se vuelven frágiles, transaccionales y descartables, erosionando la solidaridad práctica entre quienes comparten un mismo espacio.</a:t>
            </a:r>
            <a:endParaRPr lang="en-US" sz="1150" dirty="0"/>
          </a:p>
        </p:txBody>
      </p:sp>
      <p:sp>
        <p:nvSpPr>
          <p:cNvPr id="96" name="Text 94"/>
          <p:cNvSpPr/>
          <p:nvPr/>
        </p:nvSpPr>
        <p:spPr>
          <a:xfrm>
            <a:off x="7546848" y="9884664"/>
            <a:ext cx="3343656" cy="310896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Bauman, Z. (2003). Comunidad.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11055096" y="7946136"/>
            <a:ext cx="3343656" cy="2286000"/>
          </a:xfrm>
          <a:prstGeom prst="rect">
            <a:avLst/>
          </a:prstGeom>
          <a:solidFill>
            <a:srgbClr val="FAF0F0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11055096" y="7946136"/>
            <a:ext cx="3343656" cy="64008"/>
          </a:xfrm>
          <a:prstGeom prst="rect">
            <a:avLst/>
          </a:prstGeom>
          <a:solidFill>
            <a:srgbClr val="7D2D2D"/>
          </a:solidFill>
          <a:ln w="12700">
            <a:solidFill>
              <a:srgbClr val="7D2D2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1055096" y="8037576"/>
            <a:ext cx="3343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Déficit de Confianza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11055096" y="8458200"/>
            <a:ext cx="3343656" cy="1389888"/>
          </a:xfrm>
          <a:prstGeom prst="rect">
            <a:avLst/>
          </a:prstGeom>
          <a:noFill/>
          <a:ln/>
        </p:spPr>
        <p:txBody>
          <a:bodyPr wrap="square" lIns="0" tIns="1905" rIns="1905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i="1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déficit de confianza interpersonal impide la construcción de redes de apoyo local, generando aislamiento social incluso en zonas de alta densidad habitacional.</a:t>
            </a:r>
            <a:endParaRPr lang="en-US" sz="1150" dirty="0"/>
          </a:p>
        </p:txBody>
      </p:sp>
      <p:sp>
        <p:nvSpPr>
          <p:cNvPr id="101" name="Text 99"/>
          <p:cNvSpPr/>
          <p:nvPr/>
        </p:nvSpPr>
        <p:spPr>
          <a:xfrm>
            <a:off x="11055096" y="9884664"/>
            <a:ext cx="3343656" cy="310896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PNUD Chile (2015). Desarrollo Humano.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565136" y="10579608"/>
            <a:ext cx="256032" cy="256032"/>
          </a:xfrm>
          <a:prstGeom prst="ellipse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912608" y="10488168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NECESIDADES IDENTIFICADAS</a:t>
            </a:r>
            <a:endParaRPr lang="en-US" sz="1150" dirty="0"/>
          </a:p>
        </p:txBody>
      </p:sp>
      <p:sp>
        <p:nvSpPr>
          <p:cNvPr id="104" name="Shape 102"/>
          <p:cNvSpPr/>
          <p:nvPr/>
        </p:nvSpPr>
        <p:spPr>
          <a:xfrm>
            <a:off x="7912608" y="10927080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546848" y="11018520"/>
            <a:ext cx="6851904" cy="347472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 participativo · Entrevistas con directiva vecinal · Comunidad piloto · Mayo 2026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7546848" y="11457432"/>
            <a:ext cx="3343656" cy="1874520"/>
          </a:xfrm>
          <a:prstGeom prst="rect">
            <a:avLst/>
          </a:prstGeom>
          <a:solidFill>
            <a:srgbClr val="EAF3FB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7546848" y="11457432"/>
            <a:ext cx="3343656" cy="64008"/>
          </a:xfrm>
          <a:prstGeom prst="rect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11440" y="11640312"/>
            <a:ext cx="384048" cy="384048"/>
          </a:xfrm>
          <a:prstGeom prst="ellipse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711440" y="11640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◈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8205216" y="11622024"/>
            <a:ext cx="2593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5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Conectividad Vecinal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7684008" y="12079224"/>
            <a:ext cx="3115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Ausencia de canales directos entre vecinos para solicitar o compartir ayuda cotidiana.</a:t>
            </a:r>
            <a:endParaRPr lang="en-US" sz="1150" dirty="0"/>
          </a:p>
        </p:txBody>
      </p:sp>
      <p:sp>
        <p:nvSpPr>
          <p:cNvPr id="112" name="Shape 110"/>
          <p:cNvSpPr/>
          <p:nvPr/>
        </p:nvSpPr>
        <p:spPr>
          <a:xfrm>
            <a:off x="11055096" y="11457432"/>
            <a:ext cx="3343656" cy="1874520"/>
          </a:xfrm>
          <a:prstGeom prst="rect">
            <a:avLst/>
          </a:prstGeom>
          <a:solidFill>
            <a:srgbClr val="E5F4F5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11055096" y="11457432"/>
            <a:ext cx="3343656" cy="64008"/>
          </a:xfrm>
          <a:prstGeom prst="rect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1219688" y="11640312"/>
            <a:ext cx="384048" cy="384048"/>
          </a:xfrm>
          <a:prstGeom prst="ellipse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1219688" y="11640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◉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11713464" y="11622024"/>
            <a:ext cx="2593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Recursos Subutilizados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11192256" y="12079224"/>
            <a:ext cx="3115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Artículos útiles en desuso (herramientas, ropa) que podrían circular solidariamente.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7546848" y="13496544"/>
            <a:ext cx="3343656" cy="1874520"/>
          </a:xfrm>
          <a:prstGeom prst="rect">
            <a:avLst/>
          </a:prstGeom>
          <a:solidFill>
            <a:srgbClr val="E9F4EE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7546848" y="13496544"/>
            <a:ext cx="3343656" cy="64008"/>
          </a:xfrm>
          <a:prstGeom prst="rect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711440" y="13679424"/>
            <a:ext cx="384048" cy="384048"/>
          </a:xfrm>
          <a:prstGeom prst="ellipse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711440" y="1367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◐</a:t>
            </a:r>
            <a:endParaRPr lang="en-US" sz="1300" dirty="0"/>
          </a:p>
        </p:txBody>
      </p:sp>
      <p:sp>
        <p:nvSpPr>
          <p:cNvPr id="122" name="Text 120"/>
          <p:cNvSpPr/>
          <p:nvPr/>
        </p:nvSpPr>
        <p:spPr>
          <a:xfrm>
            <a:off x="8205216" y="13661136"/>
            <a:ext cx="2593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Apoyo Cotidiano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7684008" y="14118336"/>
            <a:ext cx="3115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Demanda de asistencia práctica —transporte, cuidado, trámites— sin mecanismo vecinal.</a:t>
            </a:r>
            <a:endParaRPr lang="en-US" sz="1150" dirty="0"/>
          </a:p>
        </p:txBody>
      </p:sp>
      <p:sp>
        <p:nvSpPr>
          <p:cNvPr id="124" name="Shape 122"/>
          <p:cNvSpPr/>
          <p:nvPr/>
        </p:nvSpPr>
        <p:spPr>
          <a:xfrm>
            <a:off x="11055096" y="13496544"/>
            <a:ext cx="3343656" cy="1874520"/>
          </a:xfrm>
          <a:prstGeom prst="rect">
            <a:avLst/>
          </a:prstGeom>
          <a:solidFill>
            <a:srgbClr val="FBF3E8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5" name="Shape 123"/>
          <p:cNvSpPr/>
          <p:nvPr/>
        </p:nvSpPr>
        <p:spPr>
          <a:xfrm>
            <a:off x="11055096" y="13496544"/>
            <a:ext cx="3343656" cy="64008"/>
          </a:xfrm>
          <a:prstGeom prst="rect">
            <a:avLst/>
          </a:prstGeom>
          <a:solidFill>
            <a:srgbClr val="A85E14"/>
          </a:solidFill>
          <a:ln w="12700">
            <a:solidFill>
              <a:srgbClr val="A85E1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219688" y="13679424"/>
            <a:ext cx="384048" cy="384048"/>
          </a:xfrm>
          <a:prstGeom prst="ellipse">
            <a:avLst/>
          </a:prstGeom>
          <a:solidFill>
            <a:srgbClr val="A85E14"/>
          </a:solidFill>
          <a:ln w="12700">
            <a:solidFill>
              <a:srgbClr val="A85E1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1219688" y="1367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◑</a:t>
            </a:r>
            <a:endParaRPr lang="en-US" sz="1300" dirty="0"/>
          </a:p>
        </p:txBody>
      </p:sp>
      <p:sp>
        <p:nvSpPr>
          <p:cNvPr id="128" name="Text 126"/>
          <p:cNvSpPr/>
          <p:nvPr/>
        </p:nvSpPr>
        <p:spPr>
          <a:xfrm>
            <a:off x="11713464" y="13661136"/>
            <a:ext cx="2593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Confianza y Anonimato</a:t>
            </a:r>
            <a:endParaRPr lang="en-US" sz="1200" dirty="0"/>
          </a:p>
        </p:txBody>
      </p:sp>
      <p:sp>
        <p:nvSpPr>
          <p:cNvPr id="129" name="Text 127"/>
          <p:cNvSpPr/>
          <p:nvPr/>
        </p:nvSpPr>
        <p:spPr>
          <a:xfrm>
            <a:off x="11192256" y="14118336"/>
            <a:ext cx="3115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Desconocimiento mutuo entre residentes que inhibe la solicitud de ayuda entre vecinos.</a:t>
            </a:r>
            <a:endParaRPr lang="en-US" sz="1150" dirty="0"/>
          </a:p>
        </p:txBody>
      </p:sp>
      <p:sp>
        <p:nvSpPr>
          <p:cNvPr id="130" name="Shape 128"/>
          <p:cNvSpPr/>
          <p:nvPr/>
        </p:nvSpPr>
        <p:spPr>
          <a:xfrm>
            <a:off x="7565136" y="15718536"/>
            <a:ext cx="256032" cy="256032"/>
          </a:xfrm>
          <a:prstGeom prst="ellipse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912608" y="15627096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VINCULACIÓN CON EL MEDIO</a:t>
            </a:r>
            <a:endParaRPr lang="en-US" sz="1150" dirty="0"/>
          </a:p>
        </p:txBody>
      </p:sp>
      <p:sp>
        <p:nvSpPr>
          <p:cNvPr id="132" name="Shape 130"/>
          <p:cNvSpPr/>
          <p:nvPr/>
        </p:nvSpPr>
        <p:spPr>
          <a:xfrm>
            <a:off x="7912608" y="16066008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546848" y="16157448"/>
            <a:ext cx="6851904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4" name="Text 132"/>
          <p:cNvSpPr/>
          <p:nvPr/>
        </p:nvSpPr>
        <p:spPr>
          <a:xfrm>
            <a:off x="7546848" y="16157448"/>
            <a:ext cx="6851904" cy="749808"/>
          </a:xfrm>
          <a:prstGeom prst="rect">
            <a:avLst/>
          </a:prstGeom>
          <a:noFill/>
          <a:ln/>
        </p:spPr>
        <p:txBody>
          <a:bodyPr wrap="square" lIns="0" tIns="2286" rIns="2286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proyecto se desarrolló en articulación directa con una comunidad piloto real, asegurando que el diseño respondiera a necesidades genuinas y no a supuestos académicos.</a:t>
            </a:r>
            <a:endParaRPr lang="en-US" sz="1250" dirty="0"/>
          </a:p>
        </p:txBody>
      </p:sp>
      <p:sp>
        <p:nvSpPr>
          <p:cNvPr id="135" name="Shape 133"/>
          <p:cNvSpPr/>
          <p:nvPr/>
        </p:nvSpPr>
        <p:spPr>
          <a:xfrm>
            <a:off x="7546848" y="17035272"/>
            <a:ext cx="6851904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7546848" y="17035272"/>
            <a:ext cx="82296" cy="822960"/>
          </a:xfrm>
          <a:prstGeom prst="rect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711440" y="17190720"/>
            <a:ext cx="512064" cy="512064"/>
          </a:xfrm>
          <a:prstGeom prst="ellipse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711440" y="17190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8351520" y="17090136"/>
            <a:ext cx="5937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5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Comunidad Piloto</a:t>
            </a:r>
            <a:endParaRPr lang="en-US" sz="1200" dirty="0"/>
          </a:p>
        </p:txBody>
      </p:sp>
      <p:sp>
        <p:nvSpPr>
          <p:cNvPr id="140" name="Text 138"/>
          <p:cNvSpPr/>
          <p:nvPr/>
        </p:nvSpPr>
        <p:spPr>
          <a:xfrm>
            <a:off x="8351520" y="17474184"/>
            <a:ext cx="5937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Edificio Las Palmas · Junta Vecinal Norte — comunidades reales del sector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7546848" y="18004536"/>
            <a:ext cx="6851904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2" name="Shape 140"/>
          <p:cNvSpPr/>
          <p:nvPr/>
        </p:nvSpPr>
        <p:spPr>
          <a:xfrm>
            <a:off x="7546848" y="18004536"/>
            <a:ext cx="82296" cy="822960"/>
          </a:xfrm>
          <a:prstGeom prst="rect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711440" y="18159984"/>
            <a:ext cx="512064" cy="512064"/>
          </a:xfrm>
          <a:prstGeom prst="ellipse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711440" y="18159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45" name="Text 143"/>
          <p:cNvSpPr/>
          <p:nvPr/>
        </p:nvSpPr>
        <p:spPr>
          <a:xfrm>
            <a:off x="8351520" y="18059400"/>
            <a:ext cx="5937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Participativo</a:t>
            </a:r>
            <a:endParaRPr lang="en-US" sz="1200" dirty="0"/>
          </a:p>
        </p:txBody>
      </p:sp>
      <p:sp>
        <p:nvSpPr>
          <p:cNvPr id="146" name="Text 144"/>
          <p:cNvSpPr/>
          <p:nvPr/>
        </p:nvSpPr>
        <p:spPr>
          <a:xfrm>
            <a:off x="8351520" y="18443448"/>
            <a:ext cx="5937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Entrevistas con directiva vecinal para identificar necesidades auténticas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7546848" y="18973800"/>
            <a:ext cx="6851904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8" name="Shape 146"/>
          <p:cNvSpPr/>
          <p:nvPr/>
        </p:nvSpPr>
        <p:spPr>
          <a:xfrm>
            <a:off x="7546848" y="18973800"/>
            <a:ext cx="82296" cy="822960"/>
          </a:xfrm>
          <a:prstGeom prst="rect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711440" y="19129248"/>
            <a:ext cx="512064" cy="512064"/>
          </a:xfrm>
          <a:prstGeom prst="ellipse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711440" y="19129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51" name="Text 149"/>
          <p:cNvSpPr/>
          <p:nvPr/>
        </p:nvSpPr>
        <p:spPr>
          <a:xfrm>
            <a:off x="8351520" y="19028664"/>
            <a:ext cx="5937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Intervención Presencial</a:t>
            </a:r>
            <a:endParaRPr lang="en-US" sz="1200" dirty="0"/>
          </a:p>
        </p:txBody>
      </p:sp>
      <p:sp>
        <p:nvSpPr>
          <p:cNvPr id="152" name="Text 150"/>
          <p:cNvSpPr/>
          <p:nvPr/>
        </p:nvSpPr>
        <p:spPr>
          <a:xfrm>
            <a:off x="8351520" y="19412712"/>
            <a:ext cx="5937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 de lanzamiento y capacitación realizado in situ con vecinos reales</a:t>
            </a:r>
            <a:endParaRPr lang="en-US" sz="1100" dirty="0"/>
          </a:p>
        </p:txBody>
      </p:sp>
      <p:sp>
        <p:nvSpPr>
          <p:cNvPr id="153" name="Shape 151"/>
          <p:cNvSpPr/>
          <p:nvPr/>
        </p:nvSpPr>
        <p:spPr>
          <a:xfrm>
            <a:off x="7565136" y="20144232"/>
            <a:ext cx="256032" cy="256032"/>
          </a:xfrm>
          <a:prstGeom prst="ellipse">
            <a:avLst/>
          </a:prstGeom>
          <a:solidFill>
            <a:srgbClr val="A85E14"/>
          </a:solidFill>
          <a:ln w="12700">
            <a:solidFill>
              <a:srgbClr val="A85E14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912608" y="20052792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SOCIAL ESPERADO</a:t>
            </a:r>
            <a:endParaRPr lang="en-US" sz="1150" dirty="0"/>
          </a:p>
        </p:txBody>
      </p:sp>
      <p:sp>
        <p:nvSpPr>
          <p:cNvPr id="155" name="Shape 153"/>
          <p:cNvSpPr/>
          <p:nvPr/>
        </p:nvSpPr>
        <p:spPr>
          <a:xfrm>
            <a:off x="7912608" y="20491704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546848" y="20583144"/>
            <a:ext cx="6851904" cy="950976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7" name="Shape 155"/>
          <p:cNvSpPr/>
          <p:nvPr/>
        </p:nvSpPr>
        <p:spPr>
          <a:xfrm>
            <a:off x="7546848" y="20583144"/>
            <a:ext cx="82296" cy="950976"/>
          </a:xfrm>
          <a:prstGeom prst="rect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711440" y="20839176"/>
            <a:ext cx="438912" cy="438912"/>
          </a:xfrm>
          <a:prstGeom prst="ellipse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711440" y="20839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60" name="Text 158"/>
          <p:cNvSpPr/>
          <p:nvPr/>
        </p:nvSpPr>
        <p:spPr>
          <a:xfrm>
            <a:off x="8296656" y="20583144"/>
            <a:ext cx="5974080" cy="950976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Reducción del aislamiento vecinal mediante el intercambio cotidiano no mercantil entre residentes</a:t>
            </a:r>
            <a:endParaRPr lang="en-US" sz="1250" dirty="0"/>
          </a:p>
        </p:txBody>
      </p:sp>
      <p:sp>
        <p:nvSpPr>
          <p:cNvPr id="161" name="Shape 159"/>
          <p:cNvSpPr/>
          <p:nvPr/>
        </p:nvSpPr>
        <p:spPr>
          <a:xfrm>
            <a:off x="7546848" y="21662136"/>
            <a:ext cx="6851904" cy="950976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2" name="Shape 160"/>
          <p:cNvSpPr/>
          <p:nvPr/>
        </p:nvSpPr>
        <p:spPr>
          <a:xfrm>
            <a:off x="7546848" y="21662136"/>
            <a:ext cx="82296" cy="950976"/>
          </a:xfrm>
          <a:prstGeom prst="rect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711440" y="21918168"/>
            <a:ext cx="438912" cy="438912"/>
          </a:xfrm>
          <a:prstGeom prst="ellipse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711440" y="21918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65" name="Text 163"/>
          <p:cNvSpPr/>
          <p:nvPr/>
        </p:nvSpPr>
        <p:spPr>
          <a:xfrm>
            <a:off x="8296656" y="21662136"/>
            <a:ext cx="5974080" cy="950976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Fortalecimiento de la confianza y reciprocidad como fundamento de la convivencia comunitaria</a:t>
            </a:r>
            <a:endParaRPr lang="en-US" sz="1250" dirty="0"/>
          </a:p>
        </p:txBody>
      </p:sp>
      <p:sp>
        <p:nvSpPr>
          <p:cNvPr id="166" name="Shape 164"/>
          <p:cNvSpPr/>
          <p:nvPr/>
        </p:nvSpPr>
        <p:spPr>
          <a:xfrm>
            <a:off x="7546848" y="22741128"/>
            <a:ext cx="6851904" cy="950976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7" name="Shape 165"/>
          <p:cNvSpPr/>
          <p:nvPr/>
        </p:nvSpPr>
        <p:spPr>
          <a:xfrm>
            <a:off x="7546848" y="22741128"/>
            <a:ext cx="82296" cy="950976"/>
          </a:xfrm>
          <a:prstGeom prst="rect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711440" y="22997160"/>
            <a:ext cx="438912" cy="438912"/>
          </a:xfrm>
          <a:prstGeom prst="ellipse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711440" y="22997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70" name="Text 168"/>
          <p:cNvSpPr/>
          <p:nvPr/>
        </p:nvSpPr>
        <p:spPr>
          <a:xfrm>
            <a:off x="8296656" y="22741128"/>
            <a:ext cx="5974080" cy="950976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Fomento de la economía solidaria: alternativa práctica al consumismo y a la lógica instrumental</a:t>
            </a:r>
            <a:endParaRPr lang="en-US" sz="1250" dirty="0"/>
          </a:p>
        </p:txBody>
      </p:sp>
      <p:sp>
        <p:nvSpPr>
          <p:cNvPr id="171" name="Shape 169"/>
          <p:cNvSpPr/>
          <p:nvPr/>
        </p:nvSpPr>
        <p:spPr>
          <a:xfrm>
            <a:off x="7546848" y="23820120"/>
            <a:ext cx="6851904" cy="950976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2" name="Shape 170"/>
          <p:cNvSpPr/>
          <p:nvPr/>
        </p:nvSpPr>
        <p:spPr>
          <a:xfrm>
            <a:off x="7546848" y="23820120"/>
            <a:ext cx="82296" cy="950976"/>
          </a:xfrm>
          <a:prstGeom prst="rect">
            <a:avLst/>
          </a:prstGeom>
          <a:solidFill>
            <a:srgbClr val="A85E14"/>
          </a:solidFill>
          <a:ln w="12700">
            <a:solidFill>
              <a:srgbClr val="A85E1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711440" y="24076152"/>
            <a:ext cx="438912" cy="438912"/>
          </a:xfrm>
          <a:prstGeom prst="ellipse">
            <a:avLst/>
          </a:prstGeom>
          <a:solidFill>
            <a:srgbClr val="A85E14"/>
          </a:solidFill>
          <a:ln w="12700">
            <a:solidFill>
              <a:srgbClr val="A85E14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711440" y="24076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75" name="Text 173"/>
          <p:cNvSpPr/>
          <p:nvPr/>
        </p:nvSpPr>
        <p:spPr>
          <a:xfrm>
            <a:off x="8296656" y="23820120"/>
            <a:ext cx="5974080" cy="950976"/>
          </a:xfrm>
          <a:prstGeom prst="rect">
            <a:avLst/>
          </a:prstGeom>
          <a:noFill/>
          <a:ln/>
        </p:spPr>
        <p:txBody>
          <a:bodyPr wrap="square" lIns="0" tIns="1524" rIns="1524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replicable y escalable para comunidades urbanas, condominios y juntas de vecinos</a:t>
            </a:r>
            <a:endParaRPr lang="en-US" sz="1250" dirty="0"/>
          </a:p>
        </p:txBody>
      </p:sp>
      <p:sp>
        <p:nvSpPr>
          <p:cNvPr id="176" name="Shape 174"/>
          <p:cNvSpPr/>
          <p:nvPr/>
        </p:nvSpPr>
        <p:spPr>
          <a:xfrm>
            <a:off x="7565136" y="25118568"/>
            <a:ext cx="256032" cy="256032"/>
          </a:xfrm>
          <a:prstGeom prst="ellipse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7912608" y="25027128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SELLO USS Y BIEN COMÚN</a:t>
            </a:r>
            <a:endParaRPr lang="en-US" sz="1150" dirty="0"/>
          </a:p>
        </p:txBody>
      </p:sp>
      <p:sp>
        <p:nvSpPr>
          <p:cNvPr id="178" name="Shape 176"/>
          <p:cNvSpPr/>
          <p:nvPr/>
        </p:nvSpPr>
        <p:spPr>
          <a:xfrm>
            <a:off x="7912608" y="25466040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546848" y="25557480"/>
            <a:ext cx="6851904" cy="1548384"/>
          </a:xfrm>
          <a:prstGeom prst="rect">
            <a:avLst/>
          </a:prstGeom>
          <a:solidFill>
            <a:srgbClr val="EAF3FB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0" name="Shape 178"/>
          <p:cNvSpPr/>
          <p:nvPr/>
        </p:nvSpPr>
        <p:spPr>
          <a:xfrm>
            <a:off x="7546848" y="25557480"/>
            <a:ext cx="82296" cy="1548384"/>
          </a:xfrm>
          <a:prstGeom prst="rect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711440" y="25648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95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VERDAD</a:t>
            </a:r>
            <a:endParaRPr lang="en-US" sz="1300" dirty="0"/>
          </a:p>
        </p:txBody>
      </p:sp>
      <p:sp>
        <p:nvSpPr>
          <p:cNvPr id="182" name="Text 180"/>
          <p:cNvSpPr/>
          <p:nvPr/>
        </p:nvSpPr>
        <p:spPr>
          <a:xfrm>
            <a:off x="7711440" y="26124408"/>
            <a:ext cx="6559296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Investigación empírica con comunidades reales. El proyecto parte del diagnóstico, diseña con los vecinos y evalúa el impacto sobre evidencia directa.</a:t>
            </a:r>
            <a:endParaRPr lang="en-US" sz="1200" dirty="0"/>
          </a:p>
        </p:txBody>
      </p:sp>
      <p:sp>
        <p:nvSpPr>
          <p:cNvPr id="183" name="Shape 181"/>
          <p:cNvSpPr/>
          <p:nvPr/>
        </p:nvSpPr>
        <p:spPr>
          <a:xfrm>
            <a:off x="7546848" y="27261312"/>
            <a:ext cx="6851904" cy="1548384"/>
          </a:xfrm>
          <a:prstGeom prst="rect">
            <a:avLst/>
          </a:prstGeom>
          <a:solidFill>
            <a:srgbClr val="E5F4F5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4" name="Shape 182"/>
          <p:cNvSpPr/>
          <p:nvPr/>
        </p:nvSpPr>
        <p:spPr>
          <a:xfrm>
            <a:off x="7546848" y="27261312"/>
            <a:ext cx="82296" cy="1548384"/>
          </a:xfrm>
          <a:prstGeom prst="rect">
            <a:avLst/>
          </a:prstGeom>
          <a:solidFill>
            <a:srgbClr val="0D6B72"/>
          </a:solidFill>
          <a:ln w="12700">
            <a:solidFill>
              <a:srgbClr val="0D6B72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711440" y="273527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D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JUSTICIA</a:t>
            </a:r>
            <a:endParaRPr lang="en-US" sz="1300" dirty="0"/>
          </a:p>
        </p:txBody>
      </p:sp>
      <p:sp>
        <p:nvSpPr>
          <p:cNvPr id="186" name="Text 184"/>
          <p:cNvSpPr/>
          <p:nvPr/>
        </p:nvSpPr>
        <p:spPr>
          <a:xfrm>
            <a:off x="7711440" y="27828240"/>
            <a:ext cx="6559296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Acceso libre e igualitario. La ausencia de dinero garantiza que cualquier vecino, independientemente de su nivel socioeconómico, pueda participar plenamente.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7546848" y="28965144"/>
            <a:ext cx="6851904" cy="1548384"/>
          </a:xfrm>
          <a:prstGeom prst="rect">
            <a:avLst/>
          </a:prstGeom>
          <a:solidFill>
            <a:srgbClr val="F8F2E4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8" name="Shape 186"/>
          <p:cNvSpPr/>
          <p:nvPr/>
        </p:nvSpPr>
        <p:spPr>
          <a:xfrm>
            <a:off x="7546848" y="28965144"/>
            <a:ext cx="82296" cy="1548384"/>
          </a:xfrm>
          <a:prstGeom prst="rect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711440" y="290565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18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BIEN COMÚN</a:t>
            </a:r>
            <a:endParaRPr lang="en-US" sz="1300" dirty="0"/>
          </a:p>
        </p:txBody>
      </p:sp>
      <p:sp>
        <p:nvSpPr>
          <p:cNvPr id="190" name="Text 188"/>
          <p:cNvSpPr/>
          <p:nvPr/>
        </p:nvSpPr>
        <p:spPr>
          <a:xfrm>
            <a:off x="7711440" y="29532072"/>
            <a:ext cx="6559296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herramienta prioriza el bienestar colectivo sobre la utilidad individual, materializando los valores del Sello USS en una intervención con impacto medible.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>
            <a:off x="14654784" y="5166360"/>
            <a:ext cx="256032" cy="256032"/>
          </a:xfrm>
          <a:prstGeom prst="ellipse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5002256" y="5074920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— VECINDAPP EN ACCIÓN</a:t>
            </a:r>
            <a:endParaRPr lang="en-US" sz="1150" dirty="0"/>
          </a:p>
        </p:txBody>
      </p:sp>
      <p:sp>
        <p:nvSpPr>
          <p:cNvPr id="193" name="Shape 191"/>
          <p:cNvSpPr/>
          <p:nvPr/>
        </p:nvSpPr>
        <p:spPr>
          <a:xfrm>
            <a:off x="15002256" y="5513832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4636496" y="5605272"/>
            <a:ext cx="6851904" cy="38404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Interfaz del Producto Mínimo Viable desplegado en comunidad piloto:</a:t>
            </a:r>
            <a:endParaRPr lang="en-US" sz="1200" dirty="0"/>
          </a:p>
        </p:txBody>
      </p:sp>
      <p:sp>
        <p:nvSpPr>
          <p:cNvPr id="195" name="Shape 193"/>
          <p:cNvSpPr/>
          <p:nvPr/>
        </p:nvSpPr>
        <p:spPr>
          <a:xfrm>
            <a:off x="14820900" y="6053328"/>
            <a:ext cx="2148840" cy="3001482"/>
          </a:xfrm>
          <a:prstGeom prst="rect">
            <a:avLst/>
          </a:prstGeom>
          <a:solidFill>
            <a:srgbClr val="F8F6F3"/>
          </a:solidFill>
          <a:ln w="15240">
            <a:solidFill>
              <a:srgbClr val="D4CF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6" name="Image 0" descr="/home/claude/poster_assets/home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66620" y="6099048"/>
            <a:ext cx="2057400" cy="2910042"/>
          </a:xfrm>
          <a:prstGeom prst="rect">
            <a:avLst/>
          </a:prstGeom>
        </p:spPr>
      </p:pic>
      <p:sp>
        <p:nvSpPr>
          <p:cNvPr id="197" name="Text 194"/>
          <p:cNvSpPr/>
          <p:nvPr/>
        </p:nvSpPr>
        <p:spPr>
          <a:xfrm>
            <a:off x="14866620" y="907309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</a:t>
            </a:r>
            <a:endParaRPr lang="en-US" sz="950" dirty="0"/>
          </a:p>
        </p:txBody>
      </p:sp>
      <p:sp>
        <p:nvSpPr>
          <p:cNvPr id="198" name="Shape 195"/>
          <p:cNvSpPr/>
          <p:nvPr/>
        </p:nvSpPr>
        <p:spPr>
          <a:xfrm>
            <a:off x="16988028" y="6053328"/>
            <a:ext cx="2148840" cy="3001482"/>
          </a:xfrm>
          <a:prstGeom prst="rect">
            <a:avLst/>
          </a:prstGeom>
          <a:solidFill>
            <a:srgbClr val="F8F6F3"/>
          </a:solidFill>
          <a:ln w="15240">
            <a:solidFill>
              <a:srgbClr val="D4CF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9" name="Image 1" descr="/home/claude/poster_assets/login-1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3748" y="6099048"/>
            <a:ext cx="2057400" cy="2910042"/>
          </a:xfrm>
          <a:prstGeom prst="rect">
            <a:avLst/>
          </a:prstGeom>
        </p:spPr>
      </p:pic>
      <p:sp>
        <p:nvSpPr>
          <p:cNvPr id="200" name="Text 196"/>
          <p:cNvSpPr/>
          <p:nvPr/>
        </p:nvSpPr>
        <p:spPr>
          <a:xfrm>
            <a:off x="17033748" y="907309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Registro</a:t>
            </a:r>
            <a:endParaRPr lang="en-US" sz="950" dirty="0"/>
          </a:p>
        </p:txBody>
      </p:sp>
      <p:sp>
        <p:nvSpPr>
          <p:cNvPr id="201" name="Shape 197"/>
          <p:cNvSpPr/>
          <p:nvPr/>
        </p:nvSpPr>
        <p:spPr>
          <a:xfrm>
            <a:off x="19155156" y="6053328"/>
            <a:ext cx="2148840" cy="3001482"/>
          </a:xfrm>
          <a:prstGeom prst="rect">
            <a:avLst/>
          </a:prstGeom>
          <a:solidFill>
            <a:srgbClr val="F8F6F3"/>
          </a:solidFill>
          <a:ln w="15240">
            <a:solidFill>
              <a:srgbClr val="D4CFC7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2" name="Image 2" descr="/home/claude/poster_assets/stats-0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0876" y="6099048"/>
            <a:ext cx="2057400" cy="2910042"/>
          </a:xfrm>
          <a:prstGeom prst="rect">
            <a:avLst/>
          </a:prstGeom>
        </p:spPr>
      </p:pic>
      <p:sp>
        <p:nvSpPr>
          <p:cNvPr id="203" name="Text 198"/>
          <p:cNvSpPr/>
          <p:nvPr/>
        </p:nvSpPr>
        <p:spPr>
          <a:xfrm>
            <a:off x="19200876" y="907309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3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Estadísticas</a:t>
            </a:r>
            <a:endParaRPr lang="en-US" sz="950" dirty="0"/>
          </a:p>
        </p:txBody>
      </p:sp>
      <p:sp>
        <p:nvSpPr>
          <p:cNvPr id="204" name="Shape 199"/>
          <p:cNvSpPr/>
          <p:nvPr/>
        </p:nvSpPr>
        <p:spPr>
          <a:xfrm>
            <a:off x="14654784" y="9740610"/>
            <a:ext cx="256032" cy="256032"/>
          </a:xfrm>
          <a:prstGeom prst="ellipse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205" name="Text 200"/>
          <p:cNvSpPr/>
          <p:nvPr/>
        </p:nvSpPr>
        <p:spPr>
          <a:xfrm>
            <a:off x="15002256" y="9649170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1150" dirty="0"/>
          </a:p>
        </p:txBody>
      </p:sp>
      <p:sp>
        <p:nvSpPr>
          <p:cNvPr id="206" name="Shape 201"/>
          <p:cNvSpPr/>
          <p:nvPr/>
        </p:nvSpPr>
        <p:spPr>
          <a:xfrm>
            <a:off x="15002256" y="10088082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207" name="Shape 202"/>
          <p:cNvSpPr/>
          <p:nvPr/>
        </p:nvSpPr>
        <p:spPr>
          <a:xfrm>
            <a:off x="14636496" y="10179522"/>
            <a:ext cx="6851904" cy="4800600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08" name="Text 203"/>
          <p:cNvSpPr/>
          <p:nvPr/>
        </p:nvSpPr>
        <p:spPr>
          <a:xfrm>
            <a:off x="14636496" y="10179522"/>
            <a:ext cx="6851904" cy="4800600"/>
          </a:xfrm>
          <a:prstGeom prst="rect">
            <a:avLst/>
          </a:prstGeom>
          <a:noFill/>
          <a:ln/>
        </p:spPr>
        <p:txBody>
          <a:bodyPr wrap="square" lIns="2540" tIns="2540" rIns="2540" bIns="1905" rtlCol="0" anchor="t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VecindApp demuestra que la tecnología, orientada por principios éticos sólidos, puede fortalecer el capital social y la cohesión comunitaria. El MVP operativo validó que los vecinos, contando con herramientas digitales accesibles, están dispuestos a relacionarse solidariamente.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una perspectiva filosófica, el proyecto materializa la Philia aristotélica y el Ágape como resistencia activa a la instrumentalización de las relaciones humanas. La prohibición de dinero demostró ser el elemento clave para generar vínculos de reciprocidad auténtica.</a:t>
            </a: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endParaRPr lang="en-US" sz="13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limitación se identifica la baja adopción inicial, atribuible al reducido contexto piloto. Los intercambios concretados confirman la validez del modelo como alternativa viable al intercambio mercantil.</a:t>
            </a:r>
            <a:endParaRPr lang="en-US" sz="1300" dirty="0"/>
          </a:p>
        </p:txBody>
      </p:sp>
      <p:sp>
        <p:nvSpPr>
          <p:cNvPr id="209" name="Shape 204"/>
          <p:cNvSpPr/>
          <p:nvPr/>
        </p:nvSpPr>
        <p:spPr>
          <a:xfrm>
            <a:off x="14654784" y="15345882"/>
            <a:ext cx="256032" cy="256032"/>
          </a:xfrm>
          <a:prstGeom prst="ellipse">
            <a:avLst/>
          </a:prstGeom>
          <a:solidFill>
            <a:srgbClr val="A85E14"/>
          </a:solidFill>
          <a:ln w="12700">
            <a:solidFill>
              <a:srgbClr val="A85E14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15002256" y="15254442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1150" dirty="0"/>
          </a:p>
        </p:txBody>
      </p:sp>
      <p:sp>
        <p:nvSpPr>
          <p:cNvPr id="211" name="Shape 206"/>
          <p:cNvSpPr/>
          <p:nvPr/>
        </p:nvSpPr>
        <p:spPr>
          <a:xfrm>
            <a:off x="15002256" y="15693354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212" name="Shape 207"/>
          <p:cNvSpPr/>
          <p:nvPr/>
        </p:nvSpPr>
        <p:spPr>
          <a:xfrm>
            <a:off x="14636496" y="15784794"/>
            <a:ext cx="6851904" cy="1481328"/>
          </a:xfrm>
          <a:prstGeom prst="rect">
            <a:avLst/>
          </a:prstGeom>
          <a:solidFill>
            <a:srgbClr val="EAF3FB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3" name="Shape 208"/>
          <p:cNvSpPr/>
          <p:nvPr/>
        </p:nvSpPr>
        <p:spPr>
          <a:xfrm>
            <a:off x="14636496" y="15784794"/>
            <a:ext cx="82296" cy="1481328"/>
          </a:xfrm>
          <a:prstGeom prst="rect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214" name="Shape 209"/>
          <p:cNvSpPr/>
          <p:nvPr/>
        </p:nvSpPr>
        <p:spPr>
          <a:xfrm>
            <a:off x="14801088" y="16269426"/>
            <a:ext cx="512064" cy="512064"/>
          </a:xfrm>
          <a:prstGeom prst="ellipse">
            <a:avLst/>
          </a:prstGeom>
          <a:solidFill>
            <a:srgbClr val="19579A"/>
          </a:solidFill>
          <a:ln w="12700">
            <a:solidFill>
              <a:srgbClr val="19579A"/>
            </a:solidFill>
            <a:prstDash val="solid"/>
          </a:ln>
        </p:spPr>
      </p:sp>
      <p:sp>
        <p:nvSpPr>
          <p:cNvPr id="215" name="Text 210"/>
          <p:cNvSpPr/>
          <p:nvPr/>
        </p:nvSpPr>
        <p:spPr>
          <a:xfrm>
            <a:off x="14801088" y="1626942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216" name="Text 211"/>
          <p:cNvSpPr/>
          <p:nvPr/>
        </p:nvSpPr>
        <p:spPr>
          <a:xfrm>
            <a:off x="15441168" y="15876234"/>
            <a:ext cx="591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57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Reputación</a:t>
            </a:r>
            <a:endParaRPr lang="en-US" sz="1250" dirty="0"/>
          </a:p>
        </p:txBody>
      </p:sp>
      <p:sp>
        <p:nvSpPr>
          <p:cNvPr id="217" name="Text 212"/>
          <p:cNvSpPr/>
          <p:nvPr/>
        </p:nvSpPr>
        <p:spPr>
          <a:xfrm>
            <a:off x="15441168" y="16333434"/>
            <a:ext cx="5910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Valoraciones mutuas entre vecinos tras cada intercambio para generar confianza progresiva.</a:t>
            </a:r>
            <a:endParaRPr lang="en-US" sz="1150" dirty="0"/>
          </a:p>
        </p:txBody>
      </p:sp>
      <p:sp>
        <p:nvSpPr>
          <p:cNvPr id="218" name="Shape 213"/>
          <p:cNvSpPr/>
          <p:nvPr/>
        </p:nvSpPr>
        <p:spPr>
          <a:xfrm>
            <a:off x="14636496" y="17430714"/>
            <a:ext cx="6851904" cy="1481328"/>
          </a:xfrm>
          <a:prstGeom prst="rect">
            <a:avLst/>
          </a:prstGeom>
          <a:solidFill>
            <a:srgbClr val="E9F4EE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9" name="Shape 214"/>
          <p:cNvSpPr/>
          <p:nvPr/>
        </p:nvSpPr>
        <p:spPr>
          <a:xfrm>
            <a:off x="14636496" y="17430714"/>
            <a:ext cx="82296" cy="1481328"/>
          </a:xfrm>
          <a:prstGeom prst="rect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220" name="Shape 215"/>
          <p:cNvSpPr/>
          <p:nvPr/>
        </p:nvSpPr>
        <p:spPr>
          <a:xfrm>
            <a:off x="14801088" y="17915346"/>
            <a:ext cx="512064" cy="512064"/>
          </a:xfrm>
          <a:prstGeom prst="ellipse">
            <a:avLst/>
          </a:prstGeom>
          <a:solidFill>
            <a:srgbClr val="2D6348"/>
          </a:solidFill>
          <a:ln w="12700">
            <a:solidFill>
              <a:srgbClr val="2D6348"/>
            </a:solidFill>
            <a:prstDash val="solid"/>
          </a:ln>
        </p:spPr>
      </p:sp>
      <p:sp>
        <p:nvSpPr>
          <p:cNvPr id="221" name="Text 216"/>
          <p:cNvSpPr/>
          <p:nvPr/>
        </p:nvSpPr>
        <p:spPr>
          <a:xfrm>
            <a:off x="14801088" y="1791534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222" name="Text 217"/>
          <p:cNvSpPr/>
          <p:nvPr/>
        </p:nvSpPr>
        <p:spPr>
          <a:xfrm>
            <a:off x="15441168" y="17522154"/>
            <a:ext cx="591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3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Versión Móvil Nativa</a:t>
            </a:r>
            <a:endParaRPr lang="en-US" sz="1250" dirty="0"/>
          </a:p>
        </p:txBody>
      </p:sp>
      <p:sp>
        <p:nvSpPr>
          <p:cNvPr id="223" name="Text 218"/>
          <p:cNvSpPr/>
          <p:nvPr/>
        </p:nvSpPr>
        <p:spPr>
          <a:xfrm>
            <a:off x="15441168" y="17979354"/>
            <a:ext cx="5910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 iOS y Android para mejorar la accesibilidad en todos los grupos etarios.</a:t>
            </a:r>
            <a:endParaRPr lang="en-US" sz="1150" dirty="0"/>
          </a:p>
        </p:txBody>
      </p:sp>
      <p:sp>
        <p:nvSpPr>
          <p:cNvPr id="224" name="Shape 219"/>
          <p:cNvSpPr/>
          <p:nvPr/>
        </p:nvSpPr>
        <p:spPr>
          <a:xfrm>
            <a:off x="14636496" y="19076634"/>
            <a:ext cx="6851904" cy="1481328"/>
          </a:xfrm>
          <a:prstGeom prst="rect">
            <a:avLst/>
          </a:prstGeom>
          <a:solidFill>
            <a:srgbClr val="FBF3E8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5" name="Shape 220"/>
          <p:cNvSpPr/>
          <p:nvPr/>
        </p:nvSpPr>
        <p:spPr>
          <a:xfrm>
            <a:off x="14636496" y="19076634"/>
            <a:ext cx="82296" cy="1481328"/>
          </a:xfrm>
          <a:prstGeom prst="rect">
            <a:avLst/>
          </a:prstGeom>
          <a:solidFill>
            <a:srgbClr val="A85E14"/>
          </a:solidFill>
          <a:ln w="12700">
            <a:solidFill>
              <a:srgbClr val="A85E14"/>
            </a:solidFill>
            <a:prstDash val="solid"/>
          </a:ln>
        </p:spPr>
      </p:sp>
      <p:sp>
        <p:nvSpPr>
          <p:cNvPr id="226" name="Shape 221"/>
          <p:cNvSpPr/>
          <p:nvPr/>
        </p:nvSpPr>
        <p:spPr>
          <a:xfrm>
            <a:off x="14801088" y="19561266"/>
            <a:ext cx="512064" cy="512064"/>
          </a:xfrm>
          <a:prstGeom prst="ellipse">
            <a:avLst/>
          </a:prstGeom>
          <a:solidFill>
            <a:srgbClr val="A85E14"/>
          </a:solidFill>
          <a:ln w="12700">
            <a:solidFill>
              <a:srgbClr val="A85E14"/>
            </a:solidFill>
            <a:prstDash val="solid"/>
          </a:ln>
        </p:spPr>
      </p:sp>
      <p:sp>
        <p:nvSpPr>
          <p:cNvPr id="227" name="Text 222"/>
          <p:cNvSpPr/>
          <p:nvPr/>
        </p:nvSpPr>
        <p:spPr>
          <a:xfrm>
            <a:off x="14801088" y="1956126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28" name="Text 223"/>
          <p:cNvSpPr/>
          <p:nvPr/>
        </p:nvSpPr>
        <p:spPr>
          <a:xfrm>
            <a:off x="15441168" y="19168074"/>
            <a:ext cx="591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85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Escalamiento Comunitario</a:t>
            </a:r>
            <a:endParaRPr lang="en-US" sz="1250" dirty="0"/>
          </a:p>
        </p:txBody>
      </p:sp>
      <p:sp>
        <p:nvSpPr>
          <p:cNvPr id="229" name="Text 224"/>
          <p:cNvSpPr/>
          <p:nvPr/>
        </p:nvSpPr>
        <p:spPr>
          <a:xfrm>
            <a:off x="15441168" y="19625274"/>
            <a:ext cx="5910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Ampliar a condominios, juntas de vecinos urbanas y rurales; validar la sostenibilidad del modelo.</a:t>
            </a:r>
            <a:endParaRPr lang="en-US" sz="1150" dirty="0"/>
          </a:p>
        </p:txBody>
      </p:sp>
      <p:sp>
        <p:nvSpPr>
          <p:cNvPr id="230" name="Shape 225"/>
          <p:cNvSpPr/>
          <p:nvPr/>
        </p:nvSpPr>
        <p:spPr>
          <a:xfrm>
            <a:off x="14654784" y="20905434"/>
            <a:ext cx="256032" cy="256032"/>
          </a:xfrm>
          <a:prstGeom prst="ellipse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231" name="Text 226"/>
          <p:cNvSpPr/>
          <p:nvPr/>
        </p:nvSpPr>
        <p:spPr>
          <a:xfrm>
            <a:off x="15002256" y="20813994"/>
            <a:ext cx="6486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80" kern="0" dirty="0">
                <a:solidFill>
                  <a:srgbClr val="0C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REFERENCIAS BIBLIOGRÁFICAS</a:t>
            </a:r>
            <a:endParaRPr lang="en-US" sz="1150" dirty="0"/>
          </a:p>
        </p:txBody>
      </p:sp>
      <p:sp>
        <p:nvSpPr>
          <p:cNvPr id="232" name="Shape 227"/>
          <p:cNvSpPr/>
          <p:nvPr/>
        </p:nvSpPr>
        <p:spPr>
          <a:xfrm>
            <a:off x="15002256" y="21252906"/>
            <a:ext cx="6486144" cy="0"/>
          </a:xfrm>
          <a:prstGeom prst="line">
            <a:avLst/>
          </a:prstGeom>
          <a:noFill/>
          <a:ln w="6350">
            <a:solidFill>
              <a:srgbClr val="D4CFC7"/>
            </a:solidFill>
            <a:prstDash val="solid"/>
          </a:ln>
        </p:spPr>
      </p:sp>
      <p:sp>
        <p:nvSpPr>
          <p:cNvPr id="233" name="Shape 228"/>
          <p:cNvSpPr/>
          <p:nvPr/>
        </p:nvSpPr>
        <p:spPr>
          <a:xfrm>
            <a:off x="14636496" y="21344346"/>
            <a:ext cx="6851904" cy="9242334"/>
          </a:xfrm>
          <a:prstGeom prst="rect">
            <a:avLst/>
          </a:prstGeom>
          <a:solidFill>
            <a:srgbClr val="FFFFFF"/>
          </a:solidFill>
          <a:ln w="7620">
            <a:solidFill>
              <a:srgbClr val="D4CF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4" name="Text 229"/>
          <p:cNvSpPr/>
          <p:nvPr/>
        </p:nvSpPr>
        <p:spPr>
          <a:xfrm>
            <a:off x="14636496" y="21344346"/>
            <a:ext cx="6851904" cy="9242334"/>
          </a:xfrm>
          <a:prstGeom prst="rect">
            <a:avLst/>
          </a:prstGeom>
          <a:noFill/>
          <a:ln/>
        </p:spPr>
        <p:txBody>
          <a:bodyPr wrap="square" lIns="2286" tIns="2540" rIns="2540" bIns="1270" rtlCol="0" anchor="t"/>
          <a:lstStyle/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18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Aristóteles. (2014). Política (trad. M. García Valdés). Editorial Gredos.</a:t>
            </a:r>
            <a:endParaRPr lang="en-US" sz="115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18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Bauman, Z. (2003). Comunidad: En busca de seguridad en un mundo hostil. Siglo XXI Editores.</a:t>
            </a:r>
            <a:endParaRPr lang="en-US" sz="115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18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Putnam, R. D. (2000). Bowling Alone: The collapse and revival of American community. Simon &amp; Schuster.</a:t>
            </a:r>
            <a:endParaRPr lang="en-US" sz="115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18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Sennett, R. (2012). Together: The rituals, pleasures, and politics of cooperation. Yale University Press.</a:t>
            </a:r>
            <a:endParaRPr lang="en-US" sz="115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18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Tapscott, D. &amp; Williams, A. D. (2006). Wikinomics: How mass collaboration changes everything. Portfolio.</a:t>
            </a:r>
            <a:endParaRPr lang="en-US" sz="1150" dirty="0"/>
          </a:p>
          <a:p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C18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</a:t>
            </a:r>
            <a:pPr algn="l"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04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Santos, B. de S. (2011). Producir para vivir: Los caminos de la producción no capitalista. FCE.</a:t>
            </a:r>
            <a:endParaRPr lang="en-US" sz="1150" dirty="0"/>
          </a:p>
        </p:txBody>
      </p:sp>
      <p:sp>
        <p:nvSpPr>
          <p:cNvPr id="235" name="Shape 230"/>
          <p:cNvSpPr/>
          <p:nvPr/>
        </p:nvSpPr>
        <p:spPr>
          <a:xfrm>
            <a:off x="0" y="30723840"/>
            <a:ext cx="21945600" cy="2194560"/>
          </a:xfrm>
          <a:prstGeom prst="rect">
            <a:avLst/>
          </a:prstGeom>
          <a:solidFill>
            <a:srgbClr val="0C1526"/>
          </a:solidFill>
          <a:ln w="12700">
            <a:solidFill>
              <a:srgbClr val="0C1526"/>
            </a:solidFill>
            <a:prstDash val="solid"/>
          </a:ln>
        </p:spPr>
      </p:sp>
      <p:sp>
        <p:nvSpPr>
          <p:cNvPr id="236" name="Shape 231"/>
          <p:cNvSpPr/>
          <p:nvPr/>
        </p:nvSpPr>
        <p:spPr>
          <a:xfrm>
            <a:off x="0" y="30723840"/>
            <a:ext cx="21945600" cy="109728"/>
          </a:xfrm>
          <a:prstGeom prst="rect">
            <a:avLst/>
          </a:prstGeom>
          <a:solidFill>
            <a:srgbClr val="C18528"/>
          </a:solidFill>
          <a:ln w="12700">
            <a:solidFill>
              <a:srgbClr val="C18528"/>
            </a:solidFill>
            <a:prstDash val="solid"/>
          </a:ln>
        </p:spPr>
      </p:sp>
      <p:sp>
        <p:nvSpPr>
          <p:cNvPr id="237" name="Text 232"/>
          <p:cNvSpPr/>
          <p:nvPr/>
        </p:nvSpPr>
        <p:spPr>
          <a:xfrm>
            <a:off x="457200" y="308884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FCF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VecindApp  ·  Intercambio Solidario entre Vecinos  ·  "Sin dinero, solo solidaridad"</a:t>
            </a:r>
            <a:endParaRPr lang="en-US" sz="1250" dirty="0"/>
          </a:p>
        </p:txBody>
      </p:sp>
      <p:sp>
        <p:nvSpPr>
          <p:cNvPr id="238" name="Text 233"/>
          <p:cNvSpPr/>
          <p:nvPr/>
        </p:nvSpPr>
        <p:spPr>
          <a:xfrm>
            <a:off x="457200" y="31501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A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Asignatura: Persona y Sociedad  |  Universidad San Sebastián  |  Junio 2026</a:t>
            </a:r>
            <a:endParaRPr lang="en-US" sz="1050" dirty="0"/>
          </a:p>
        </p:txBody>
      </p:sp>
      <p:sp>
        <p:nvSpPr>
          <p:cNvPr id="239" name="Shape 234"/>
          <p:cNvSpPr/>
          <p:nvPr/>
        </p:nvSpPr>
        <p:spPr>
          <a:xfrm>
            <a:off x="15087600" y="30906720"/>
            <a:ext cx="6400800" cy="914400"/>
          </a:xfrm>
          <a:prstGeom prst="rect">
            <a:avLst/>
          </a:prstGeom>
          <a:solidFill>
            <a:srgbClr val="152035"/>
          </a:solidFill>
          <a:ln w="7620">
            <a:solidFill>
              <a:srgbClr val="3B5FA0"/>
            </a:solidFill>
            <a:prstDash val="solid"/>
          </a:ln>
        </p:spPr>
      </p:sp>
      <p:sp>
        <p:nvSpPr>
          <p:cNvPr id="240" name="Text 235"/>
          <p:cNvSpPr/>
          <p:nvPr/>
        </p:nvSpPr>
        <p:spPr>
          <a:xfrm>
            <a:off x="15179040" y="30925008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CF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tecnológico: HTML · CSS · JavaScript · Firebase Realtime DB</a:t>
            </a:r>
            <a:endParaRPr lang="en-US" sz="1050" dirty="0"/>
          </a:p>
        </p:txBody>
      </p:sp>
      <p:sp>
        <p:nvSpPr>
          <p:cNvPr id="241" name="Text 236"/>
          <p:cNvSpPr/>
          <p:nvPr/>
        </p:nvSpPr>
        <p:spPr>
          <a:xfrm>
            <a:off x="15179040" y="3140049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MVP desplegado y funcional en comunidad piloto real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2026-06-12T03:17:56Z</dcterms:created>
  <dcterms:modified xsi:type="dcterms:W3CDTF">2026-06-12T03:17:56Z</dcterms:modified>
</cp:coreProperties>
</file>